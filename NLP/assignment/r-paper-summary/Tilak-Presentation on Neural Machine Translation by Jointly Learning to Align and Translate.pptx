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RobotoMono-bold.fntdata"/><Relationship Id="rId10" Type="http://schemas.openxmlformats.org/officeDocument/2006/relationships/slide" Target="slides/slide3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6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5.xml"/><Relationship Id="rId23" Type="http://schemas.openxmlformats.org/officeDocument/2006/relationships/font" Target="fonts/RobotoMono-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54706ef29_2_9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854706ef29_2_90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54706ef29_2_19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854706ef29_2_191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54706ef29_2_18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854706ef29_2_186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54706ef29_2_19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854706ef29_2_196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54706ef29_2_20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854706ef29_2_201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54706ef29_2_20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854706ef29_2_206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54706ef29_2_21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854706ef29_2_211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54706ef29_0_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854706ef29_0_8:notes"/>
          <p:cNvSpPr/>
          <p:nvPr>
            <p:ph idx="2" type="sldImg"/>
          </p:nvPr>
        </p:nvSpPr>
        <p:spPr>
          <a:xfrm>
            <a:off x="381171" y="685791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54706ef29_2_217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854706ef29_2_217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54706ef29_2_222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854706ef29_2_222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353f2339a_0_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a353f2339a_0_5:notes"/>
          <p:cNvSpPr/>
          <p:nvPr>
            <p:ph idx="2" type="sldImg"/>
          </p:nvPr>
        </p:nvSpPr>
        <p:spPr>
          <a:xfrm>
            <a:off x="381171" y="685791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54706ef29_2_227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854706ef29_2_227:notes"/>
          <p:cNvSpPr/>
          <p:nvPr>
            <p:ph idx="2" type="sldImg"/>
          </p:nvPr>
        </p:nvSpPr>
        <p:spPr>
          <a:xfrm>
            <a:off x="381171" y="685791"/>
            <a:ext cx="609629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5720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67424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457200" y="206010"/>
            <a:ext cx="8229240" cy="397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467424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45720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3"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3"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120015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2"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3"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4"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4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2" type="body"/>
          </p:nvPr>
        </p:nvSpPr>
        <p:spPr>
          <a:xfrm>
            <a:off x="323964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3" type="body"/>
          </p:nvPr>
        </p:nvSpPr>
        <p:spPr>
          <a:xfrm>
            <a:off x="602208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4" type="body"/>
          </p:nvPr>
        </p:nvSpPr>
        <p:spPr>
          <a:xfrm>
            <a:off x="45720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5" type="body"/>
          </p:nvPr>
        </p:nvSpPr>
        <p:spPr>
          <a:xfrm>
            <a:off x="323964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6" type="body"/>
          </p:nvPr>
        </p:nvSpPr>
        <p:spPr>
          <a:xfrm>
            <a:off x="602208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8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8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9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45720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2" type="body"/>
          </p:nvPr>
        </p:nvSpPr>
        <p:spPr>
          <a:xfrm>
            <a:off x="467424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0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1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" type="subTitle"/>
          </p:nvPr>
        </p:nvSpPr>
        <p:spPr>
          <a:xfrm>
            <a:off x="457200" y="206010"/>
            <a:ext cx="8229240" cy="397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2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2" type="body"/>
          </p:nvPr>
        </p:nvSpPr>
        <p:spPr>
          <a:xfrm>
            <a:off x="467424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3"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3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457200" y="1200150"/>
            <a:ext cx="40158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3"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4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4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3"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5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5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457200" y="120015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6"/>
          <p:cNvSpPr txBox="1"/>
          <p:nvPr>
            <p:ph idx="2"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6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6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45720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4674240" y="120015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7"/>
          <p:cNvSpPr txBox="1"/>
          <p:nvPr>
            <p:ph idx="3"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4"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7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45720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2" type="body"/>
          </p:nvPr>
        </p:nvSpPr>
        <p:spPr>
          <a:xfrm>
            <a:off x="323964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3" type="body"/>
          </p:nvPr>
        </p:nvSpPr>
        <p:spPr>
          <a:xfrm>
            <a:off x="6022080" y="120015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4" type="body"/>
          </p:nvPr>
        </p:nvSpPr>
        <p:spPr>
          <a:xfrm>
            <a:off x="45720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5" type="body"/>
          </p:nvPr>
        </p:nvSpPr>
        <p:spPr>
          <a:xfrm>
            <a:off x="323964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6" type="body"/>
          </p:nvPr>
        </p:nvSpPr>
        <p:spPr>
          <a:xfrm>
            <a:off x="6022080" y="2973240"/>
            <a:ext cx="2649600" cy="16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8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1597860"/>
            <a:ext cx="7772040" cy="110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39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p26"/>
          <p:cNvSpPr txBox="1"/>
          <p:nvPr>
            <p:ph idx="10" type="dt"/>
          </p:nvPr>
        </p:nvSpPr>
        <p:spPr>
          <a:xfrm>
            <a:off x="45720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p26"/>
          <p:cNvSpPr txBox="1"/>
          <p:nvPr>
            <p:ph idx="11" type="ftr"/>
          </p:nvPr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553080" y="4767390"/>
            <a:ext cx="213336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uggingface.co/datasets/wmt/wmt14" TargetMode="External"/><Relationship Id="rId4" Type="http://schemas.openxmlformats.org/officeDocument/2006/relationships/hyperlink" Target="https://arxiv.org/pdf/1409.04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Calibri"/>
              <a:buNone/>
            </a:pPr>
            <a:r>
              <a:rPr lang="en" sz="3259">
                <a:latin typeface="Calibri"/>
                <a:ea typeface="Calibri"/>
                <a:cs typeface="Calibri"/>
                <a:sym typeface="Calibri"/>
              </a:rPr>
              <a:t>Presentation on </a:t>
            </a:r>
            <a:r>
              <a:rPr lang="en" sz="3259">
                <a:latin typeface="Calibri"/>
                <a:ea typeface="Calibri"/>
                <a:cs typeface="Calibri"/>
                <a:sym typeface="Calibri"/>
              </a:rPr>
              <a:t>Neural Machine Translation by Jointly Learning to Align and Translate</a:t>
            </a:r>
            <a:endParaRPr sz="325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80"/>
          </a:p>
        </p:txBody>
      </p:sp>
      <p:sp>
        <p:nvSpPr>
          <p:cNvPr id="235" name="Google Shape;235;p39"/>
          <p:cNvSpPr txBox="1"/>
          <p:nvPr>
            <p:ph idx="1" type="subTitle"/>
          </p:nvPr>
        </p:nvSpPr>
        <p:spPr>
          <a:xfrm>
            <a:off x="311700" y="2834125"/>
            <a:ext cx="85617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Tilak Poudel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 no. 38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MDS 2nd sem, 2081 batch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747800" y="1024410"/>
            <a:ext cx="77721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1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Neural Machine Translation by Jointly Learning to Align and Translate</a:t>
            </a:r>
            <a:endParaRPr b="0" sz="31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0"/>
          <p:cNvSpPr txBox="1"/>
          <p:nvPr>
            <p:ph idx="1" type="subTitle"/>
          </p:nvPr>
        </p:nvSpPr>
        <p:spPr>
          <a:xfrm>
            <a:off x="1371600" y="2914650"/>
            <a:ext cx="67344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rPr b="0" i="0" lang="en" sz="2200" u="none" cap="none" strike="noStrike">
                <a:latin typeface="Calibri"/>
                <a:ea typeface="Calibri"/>
                <a:cs typeface="Calibri"/>
                <a:sym typeface="Calibri"/>
              </a:rPr>
              <a:t>Dzmitry Bahdanau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Jacobs University Bremen, Germany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2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rPr b="0" i="0" lang="en" sz="2200" u="none" cap="none" strike="noStrike">
                <a:latin typeface="Calibri"/>
                <a:ea typeface="Calibri"/>
                <a:cs typeface="Calibri"/>
                <a:sym typeface="Calibri"/>
              </a:rPr>
              <a:t>Kyunghyun Cho, Yoshua Bengio</a:t>
            </a:r>
            <a:endParaRPr b="0" i="0" sz="22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Universite de Montreal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8B8B8B"/>
              </a:buClr>
              <a:buSzPts val="3200"/>
              <a:buFont typeface="Calibri"/>
              <a:buNone/>
            </a:pPr>
            <a:r>
              <a:rPr b="0" i="0" lang="en" sz="2200" u="none" cap="none" strike="noStrike">
                <a:latin typeface="Calibri"/>
                <a:ea typeface="Calibri"/>
                <a:cs typeface="Calibri"/>
                <a:sym typeface="Calibri"/>
              </a:rPr>
              <a:t>ICLR 2015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 txBox="1"/>
          <p:nvPr>
            <p:ph idx="4294967295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Neural Machine Translation (NMT) is an approach that replaces traditional phrase-based systems with a single, end-to-end neural network.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Unlike statistical machine translation (SMT), which relies on many components tuned separately, NMT jointly trains an encoder and decoder to maximize translation probability.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Early encoder–decoder models compressed a source sentence into a fixed-length vector, from which a decoder generates the translation.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design works for short sentences but deteriorates for long ones, as key information gets lost.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paper introduces a new approach that integrates an attention mechanism to overcome this bottleneck.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 txBox="1"/>
          <p:nvPr>
            <p:ph idx="4294967295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Neural Machine Translation (NMT)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concept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End-to-end neural models replacing phrase-based systems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Problem: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Fixed-length vector bottleneck in encoder–decoder models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Poor translation of long sentences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3"/>
          <p:cNvSpPr txBox="1"/>
          <p:nvPr>
            <p:ph idx="4294967295" type="body"/>
          </p:nvPr>
        </p:nvSpPr>
        <p:spPr>
          <a:xfrm>
            <a:off x="457200" y="1200150"/>
            <a:ext cx="82293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Kalchbrenner &amp; Blunsom (2013):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Continuous translation models using convolutional and recurrent networks.</a:t>
            </a:r>
            <a:br>
              <a:rPr lang="en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Sutskever et al. (2014):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Sequence-to-sequence learning with LSTMs, showing near state-of-the-art performance.</a:t>
            </a:r>
            <a:br>
              <a:rPr lang="en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Cho et al. (2014):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Introduced the RNN encoder–decoder with gated recurrent units (GRUs).</a:t>
            </a:r>
            <a:br>
              <a:rPr lang="en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Other neural models contributed as components in SMT (e.g., phrase scoring, reranking), but they still relied on traditional pipelines.</a:t>
            </a:r>
            <a:br>
              <a:rPr lang="en" sz="1600">
                <a:latin typeface="Calibri"/>
                <a:ea typeface="Calibri"/>
                <a:cs typeface="Calibri"/>
                <a:sym typeface="Calibri"/>
              </a:rPr>
            </a:b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Limitation: All prior encoder–decoders relied on single fixed-length vectors, limiting long-sentence translation.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4"/>
          <p:cNvSpPr txBox="1"/>
          <p:nvPr>
            <p:ph idx="4294967295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Traditional encoder–decoder models fail to preserve information from long sentences.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Performance rapidly deteriorates when sentence length exceeds training distribution.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Lack of adaptive focus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in existing models during decoding.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Gap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A method to allow models to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 selectively attend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to relevant parts of the source sentence at each translation step.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5"/>
          <p:cNvSpPr txBox="1"/>
          <p:nvPr>
            <p:ph idx="4294967295" type="body"/>
          </p:nvPr>
        </p:nvSpPr>
        <p:spPr>
          <a:xfrm>
            <a:off x="457200" y="1200150"/>
            <a:ext cx="8229300" cy="3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Proposed Model: RNNsearch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 with an attention mechanism.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Encoder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Bidirectional RNN encodes the source into a sequence of annotations (forward + backward context).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 At each step, computes a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context vector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as a weighted sum of annotations, where weights (soft alignments) are learned by a feedforward neural network alignment model.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This attention mechanism enables the model to focus on different input parts dynamically, relieving the encoder from compressing everything into a single vector.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Training is </a:t>
            </a: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end-to-end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, jointly optimizing alignment and translation.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6"/>
          <p:cNvSpPr txBox="1"/>
          <p:nvPr>
            <p:ph idx="4294967295" type="body"/>
          </p:nvPr>
        </p:nvSpPr>
        <p:spPr>
          <a:xfrm>
            <a:off x="457200" y="1200150"/>
            <a:ext cx="84387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780" lvl="0" marL="34308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Dataset:</a:t>
            </a:r>
            <a:r>
              <a:rPr lang="en" sz="1600">
                <a:solidFill>
                  <a:schemeClr val="dk1"/>
                </a:solidFill>
              </a:rPr>
              <a:t> English–French WMT’14 corpus (~348M words after preprocessing).</a:t>
            </a:r>
            <a:endParaRPr sz="1600">
              <a:solidFill>
                <a:schemeClr val="dk1"/>
              </a:solidFill>
            </a:endParaRPr>
          </a:p>
          <a:p>
            <a:pPr indent="-228780" lvl="0" marL="34308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Models compared: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RNN encoder–decoder (baseline)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RNNsearch (proposed)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Setup: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Vocabulary size: 30,000 most frequent words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Unknown words mapped to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[UNK]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Training with mini-batch SGD + Adadelta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Evaluated using BLEU score on WMT’14 test set (3003 sentences).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Models trained with sentence length limits (≤30 and ≤50 words).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idx="4294967295" type="title"/>
          </p:nvPr>
        </p:nvSpPr>
        <p:spPr>
          <a:xfrm>
            <a:off x="457200" y="206010"/>
            <a:ext cx="82293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7"/>
          <p:cNvSpPr txBox="1"/>
          <p:nvPr>
            <p:ph idx="4294967295" type="body"/>
          </p:nvPr>
        </p:nvSpPr>
        <p:spPr>
          <a:xfrm>
            <a:off x="380775" y="1020725"/>
            <a:ext cx="83058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Data: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25" y="1469300"/>
            <a:ext cx="8795501" cy="2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8"/>
          <p:cNvSpPr txBox="1"/>
          <p:nvPr>
            <p:ph idx="4294967295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Quantitative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RNNsearch outperforms baseline across all settings.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Performance remains robust even for sentences longer than 50 words.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Qualitative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Attention-based soft alignments align well with linguistic structures (e.g., reordering of adjectives and nouns in French).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More accurate translations of long, complex sentences compared to encoder–decoder.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Visualization of alignments shows interpretable mappings between source and target words.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9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3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and Future Extensions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9"/>
          <p:cNvSpPr txBox="1"/>
          <p:nvPr>
            <p:ph idx="4294967295" type="body"/>
          </p:nvPr>
        </p:nvSpPr>
        <p:spPr>
          <a:xfrm>
            <a:off x="457200" y="1200150"/>
            <a:ext cx="822924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Struggles with rare or unknown words due to limited vocabulary size.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Computational cost: attention must evaluate weights across all source words.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Scalability challenges for tasks requiring very long sequences.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Future Extensions: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Better handling of vocabulary coverage and rare words.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Pretraining encoders with larger monolingual corpora.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Refining training strategies for efficiency and robustness.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380" lvl="0" marL="34308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Extending attention-based architectures to broader NLP tasks such as dialogue, summarization, and question answering.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/>
          <p:nvPr>
            <p:ph idx="4294967295" type="title"/>
          </p:nvPr>
        </p:nvSpPr>
        <p:spPr>
          <a:xfrm>
            <a:off x="2028450" y="1608851"/>
            <a:ext cx="5087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sz="3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0"/>
          <p:cNvSpPr txBox="1"/>
          <p:nvPr>
            <p:ph idx="4294967295" type="body"/>
          </p:nvPr>
        </p:nvSpPr>
        <p:spPr>
          <a:xfrm>
            <a:off x="4211375" y="2222875"/>
            <a:ext cx="1020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/>
          <p:nvPr>
            <p:ph idx="4294967295" type="title"/>
          </p:nvPr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lang="en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 / Resources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1"/>
          <p:cNvSpPr txBox="1"/>
          <p:nvPr>
            <p:ph idx="4294967295" type="body"/>
          </p:nvPr>
        </p:nvSpPr>
        <p:spPr>
          <a:xfrm>
            <a:off x="350875" y="1329725"/>
            <a:ext cx="8423100" cy="26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Dataset: English–French WMT’14 corpus </a:t>
            </a:r>
            <a:r>
              <a:rPr b="0" i="0" lang="en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https://huggingface.co/datasets/wmt/wmt14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Research paper: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https://arxiv.org/pdf/1409.0473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